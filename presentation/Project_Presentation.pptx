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Medium Bold" charset="1" panose="02000000000000000000"/>
      <p:regular r:id="rId22"/>
    </p:embeddedFont>
    <p:embeddedFont>
      <p:font typeface="Poppins Light Bold" charset="1" panose="02000000000000000000"/>
      <p:regular r:id="rId23"/>
    </p:embeddedFont>
    <p:embeddedFont>
      <p:font typeface="Montserrat Semi-Bold" charset="1" panose="000007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Bold" charset="1" panose="00000800000000000000"/>
      <p:regular r:id="rId26"/>
    </p:embeddedFont>
    <p:embeddedFont>
      <p:font typeface="Arimo Bold" charset="1" panose="020B0704020202020204"/>
      <p:regular r:id="rId27"/>
    </p:embeddedFont>
    <p:embeddedFont>
      <p:font typeface="Poppins Medium" charset="1" panose="02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8903" y="2221011"/>
            <a:ext cx="16870194" cy="321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sz="7658" b="true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Domain-Specific LLM Adaptation: Transformer Pipeline for Medical Question Answering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8903" y="7201936"/>
            <a:ext cx="976811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92929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By: Sai Pavan Reddy Doddam Reddy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8903" y="5541404"/>
            <a:ext cx="13425711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292929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A Case Study on Fine-Tuning FLAN-T5 for Medical Question Answering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Motivation &amp; Research Questions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709187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Why Medical QA?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323" y="5343525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Research Questions: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0373" y="3600450"/>
            <a:ext cx="1539681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Increasing demand for AI in clinical and biomedical applications.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Generic LLMs struggle with factual consistency in specialized domains.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00373" y="6232526"/>
            <a:ext cx="1539681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FLAN-T5 be adapted for accurate medical QA?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How does fine-tuning aﬀect factuality, accuracy, and semantic relevance?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Related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728237"/>
            <a:ext cx="12229067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BioBERT, SciBERT – pre-trained biomedical LMs.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PubMedGPT, Galactica – large-scale medical/citation-based models.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FLAN-T5 – instruction-tuned but not domain-specific.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Methodology –Model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709187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 Used: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323" y="3789589"/>
            <a:ext cx="15396810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FLAN-T5 Base (pretrained, instruction-tuned).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Fine-tuned separately.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PubMedQA (generative QA).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MedMCQA (multiple-choice QA).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Methodology –Datasets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709187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Datasets: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323" y="6581099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Preprocessing: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1323" y="3824287"/>
            <a:ext cx="15396810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PubMedQA: 1,000+ biomedical research Q&amp;A with abstracts and long-form answers.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MedMCQA: 194k+ questions from medical exams (NEET PG, AIIMS), MCQ format.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1323" y="7698700"/>
            <a:ext cx="1539681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Tokenization, truncation, format standardization.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59288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Methodology –Training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647274"/>
            <a:ext cx="15396810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Used Hugging Face Transformers &amp; PyTorch.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Batch size: 4, Learning rate: 3e-4, Epochs: 2.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Evaluation on test set after each epoch.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GPU: Google Colab (T4).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Evaluation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366287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Generative QA (PubMedQA):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689843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Multiple Choice QA (MedMCQA):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1323" y="3260843"/>
            <a:ext cx="15396810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ROUGE-1, ROUGE-2, ROUGE-L.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BLEU.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F1 Score.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BERTScore.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USEScore.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Exact Match (EM).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1323" y="7588369"/>
            <a:ext cx="1539681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81323" y="4445761"/>
          <a:ext cx="6988629" cy="3427639"/>
        </p:xfrm>
        <a:graphic>
          <a:graphicData uri="http://schemas.openxmlformats.org/drawingml/2006/table">
            <a:tbl>
              <a:tblPr/>
              <a:tblGrid>
                <a:gridCol w="3761854"/>
                <a:gridCol w="3175168"/>
              </a:tblGrid>
              <a:tr h="12329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4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 FLAN-T5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02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Results – MedMCQA Accuracy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96788" y="3459993"/>
            <a:ext cx="8862512" cy="5399175"/>
          </a:xfrm>
          <a:custGeom>
            <a:avLst/>
            <a:gdLst/>
            <a:ahLst/>
            <a:cxnLst/>
            <a:rect r="r" b="b" t="t" l="l"/>
            <a:pathLst>
              <a:path h="5399175" w="8862512">
                <a:moveTo>
                  <a:pt x="0" y="0"/>
                </a:moveTo>
                <a:lnTo>
                  <a:pt x="8862512" y="0"/>
                </a:lnTo>
                <a:lnTo>
                  <a:pt x="8862512" y="5399175"/>
                </a:lnTo>
                <a:lnTo>
                  <a:pt x="0" y="5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339318" y="1660752"/>
          <a:ext cx="9609364" cy="8477250"/>
        </p:xfrm>
        <a:graphic>
          <a:graphicData uri="http://schemas.openxmlformats.org/drawingml/2006/table">
            <a:tbl>
              <a:tblPr/>
              <a:tblGrid>
                <a:gridCol w="2888751"/>
                <a:gridCol w="2888751"/>
                <a:gridCol w="3831862"/>
              </a:tblGrid>
              <a:tr h="13586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Poppins Medium Bold"/>
                          <a:ea typeface="Poppins Medium Bold"/>
                          <a:cs typeface="Poppins Medium Bold"/>
                          <a:sym typeface="Poppins Medium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000000"/>
                          </a:solidFill>
                          <a:latin typeface="Poppins Medium Bold"/>
                          <a:ea typeface="Poppins Medium Bold"/>
                          <a:cs typeface="Poppins Medium Bold"/>
                          <a:sym typeface="Poppins Medium Bold"/>
                        </a:rPr>
                        <a:t>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b="true" sz="3999" strike="noStrike" u="non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Fine-Tuned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ROUGE-1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17.53%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26.21%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ROUGE-2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6.45%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9.43%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ROUGE-L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14.37%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20.21%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BLEU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0.44%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2.32%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0.1380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0.2048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Exact Match (EM)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BERT SCORE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0.8462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0.8783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USE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0.3191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0.4421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02129" y="511402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Results – PubMedQA Metrics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3044" y="2344180"/>
            <a:ext cx="14781911" cy="6914120"/>
          </a:xfrm>
          <a:custGeom>
            <a:avLst/>
            <a:gdLst/>
            <a:ahLst/>
            <a:cxnLst/>
            <a:rect r="r" b="b" t="t" l="l"/>
            <a:pathLst>
              <a:path h="6914120" w="14781911">
                <a:moveTo>
                  <a:pt x="0" y="0"/>
                </a:moveTo>
                <a:lnTo>
                  <a:pt x="14781912" y="0"/>
                </a:lnTo>
                <a:lnTo>
                  <a:pt x="14781912" y="6914120"/>
                </a:lnTo>
                <a:lnTo>
                  <a:pt x="0" y="691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71575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Results – PubMedQA Metrics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Qualitative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415272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PubMedQA Predictions: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323" y="3240314"/>
            <a:ext cx="15396810" cy="56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Q: Does vitamin D s</a:t>
            </a: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upplementation reduce the risk of respiratory infections?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Context: Vitamin D is known for immune support and may affect respiratory health.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Predicted Answer: Vitamin D is an important component of a healthy immune system and may be a factor in the prevention of respiratory infections. </a:t>
            </a:r>
          </a:p>
          <a:p>
            <a:pPr algn="l" marL="539751" indent="-269876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Q: What are the long-term effects of chemotherapy on cognitive function?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Context: Chemotherapy is a common cancer treatment that may have side effects.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Pr</a:t>
            </a: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edicted Answer: Alzheimer's disease is a common side effect of chemotherapy. </a:t>
            </a:r>
          </a:p>
          <a:p>
            <a:pPr algn="l" marL="539751" indent="-269876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Q: Is there a link between gut microbiota and autoimmune diseases?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Context: Gut microbiota influences many aspects of human health and immune function.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Predicted Answer: Gut microbiota plays an important role in the development of autoimmune diseases.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Qualitative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415272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MedMCQA Predictions: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323" y="3275693"/>
            <a:ext cx="15396810" cy="473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Q: Which vitamin d</a:t>
            </a: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eficiency causes scurvy?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Options: ['Vitamin A', 'Vitamin C', 'Vitamin D', 'Vitamin B12']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Predicted Answer: Vitamin A </a:t>
            </a:r>
          </a:p>
          <a:p>
            <a:pPr algn="l" marL="539751" indent="-269876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Q: The primary function of the sinoatrial node in the heart is to: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Options: ['Pump blood to the lungs', 'Initiate the heartbeat', 'Regulate blood pressure', 'Filter blood']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Pr</a:t>
            </a: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edicted Answer: Regulate blood pressure </a:t>
            </a:r>
          </a:p>
          <a:p>
            <a:pPr algn="l" marL="539751" indent="-269876" lvl="1">
              <a:lnSpc>
                <a:spcPts val="380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Q: Which antibiotic is effective against Gram-positive bacteria?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Options: ['Ciprofloxacin', 'Penicillin', 'Metronidazole', 'Amphotericin B'] </a:t>
            </a:r>
          </a:p>
          <a:p>
            <a:pPr algn="l" marL="1079502" indent="-359834" lvl="2">
              <a:lnSpc>
                <a:spcPts val="3800"/>
              </a:lnSpc>
              <a:buFont typeface="Arial"/>
              <a:buChar char="⚬"/>
            </a:pPr>
            <a:r>
              <a:rPr lang="en-US" sz="25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Predicted Answer: Amphotericin B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Challenges &amp;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0373" y="2482056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Challenges: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1323" y="5343525"/>
            <a:ext cx="1093773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2929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Limitations: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0373" y="3371057"/>
            <a:ext cx="1539681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Limited compute and memory.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Domain complexity.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Noisy labels in training data.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0373" y="6232526"/>
            <a:ext cx="1539681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Lack of factual grounding.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Small fine-tuning set size.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No external medical knowledge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433642"/>
            <a:ext cx="12229067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Incorporate retrieval-augmented generation (RAG).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Explore instruction tuning with clinical prompts.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Multi-modal inputs: images, patient charts.</a:t>
            </a:r>
          </a:p>
          <a:p>
            <a:pPr algn="l">
              <a:lnSpc>
                <a:spcPts val="4199"/>
              </a:lnSpc>
            </a:pP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Larger medical LLMs (e.g., GatorTron, MedPaLM.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1323" y="1131888"/>
            <a:ext cx="1521733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323" y="2957517"/>
            <a:ext cx="12229067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Fine-tuning FLAN-T5 improves accuracy and semantic quality for domain-specific QA.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Results highlight the value of task-specific adaptation.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Substantial gains on both datasets using relatively small fine-tuning setups.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5266" y="4171087"/>
            <a:ext cx="11957467" cy="227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87"/>
              </a:lnSpc>
            </a:pPr>
            <a:r>
              <a:rPr lang="en-US" b="true" sz="17187">
                <a:solidFill>
                  <a:srgbClr val="292929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DAGujaFPJ1E</dc:identifier>
  <dcterms:modified xsi:type="dcterms:W3CDTF">2011-08-01T06:04:30Z</dcterms:modified>
  <cp:revision>1</cp:revision>
  <dc:title>GEN AI PPT</dc:title>
</cp:coreProperties>
</file>